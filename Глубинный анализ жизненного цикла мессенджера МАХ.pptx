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62" r:id="rId5"/>
    <p:sldId id="261" r:id="rId6"/>
    <p:sldId id="263" r:id="rId7"/>
    <p:sldId id="264" r:id="rId8"/>
    <p:sldId id="265" r:id="rId9"/>
    <p:sldId id="267" r:id="rId10"/>
    <p:sldId id="266" r:id="rId11"/>
  </p:sldIdLst>
  <p:sldSz cx="18288000" cy="10287000"/>
  <p:notesSz cx="6858000" cy="9144000"/>
  <p:embeddedFontLst>
    <p:embeddedFont>
      <p:font typeface="Arimo" panose="020B0604020202020204" pitchFamily="3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Tenor Sans" panose="02000000000000000000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8" autoAdjust="0"/>
    <p:restoredTop sz="94580" autoAdjust="0"/>
  </p:normalViewPr>
  <p:slideViewPr>
    <p:cSldViewPr>
      <p:cViewPr varScale="1">
        <p:scale>
          <a:sx n="71" d="100"/>
          <a:sy n="71" d="100"/>
        </p:scale>
        <p:origin x="55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19735" y="3848100"/>
            <a:ext cx="11820249" cy="150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ru-RU" sz="8999" spc="593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Мессенджер </a:t>
            </a:r>
            <a:r>
              <a:rPr lang="ru-RU" sz="8999" spc="593" dirty="0" err="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</a:t>
            </a:r>
            <a:r>
              <a:rPr lang="en-US" sz="8999" spc="593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AX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9735" y="1237990"/>
            <a:ext cx="7962900" cy="823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ru-RU" sz="3200" spc="864" dirty="0">
                <a:solidFill>
                  <a:srgbClr val="737373"/>
                </a:solidFill>
                <a:latin typeface="Tenor Sans"/>
                <a:ea typeface="Tenor Sans"/>
                <a:cs typeface="Tenor Sans"/>
                <a:sym typeface="Tenor Sans"/>
              </a:rPr>
              <a:t>глубинный анализ жизненного цикла</a:t>
            </a:r>
            <a:endParaRPr lang="en-US" sz="3200" spc="864" dirty="0">
              <a:solidFill>
                <a:srgbClr val="737373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0870" y="7063590"/>
            <a:ext cx="2640924" cy="2174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26"/>
              </a:lnSpc>
            </a:pPr>
            <a:r>
              <a:rPr lang="en-US" sz="16226" spc="324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01.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235" y="1049138"/>
            <a:ext cx="16887530" cy="3847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Перед началом разработки компания </a:t>
            </a:r>
            <a:r>
              <a:rPr lang="en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VK </a:t>
            </a: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определила цели и задачи проекта.</a:t>
            </a:r>
          </a:p>
          <a:p>
            <a:pPr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На этом этапе были:</a:t>
            </a:r>
          </a:p>
          <a:p>
            <a:pPr marL="342900" indent="-342900">
              <a:lnSpc>
                <a:spcPts val="2519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изучен зарубежный аналог </a:t>
            </a:r>
            <a:r>
              <a:rPr lang="en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WeChat</a:t>
            </a: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;</a:t>
            </a:r>
          </a:p>
          <a:p>
            <a:pPr marL="342900" indent="-342900">
              <a:lnSpc>
                <a:spcPts val="2519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определены требования к будущему продукту;</a:t>
            </a:r>
          </a:p>
          <a:p>
            <a:pPr marL="342900" indent="-342900">
              <a:lnSpc>
                <a:spcPts val="2519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рассчитаны необходимые ресурсы;</a:t>
            </a:r>
          </a:p>
          <a:p>
            <a:pPr marL="342900" indent="-342900">
              <a:lnSpc>
                <a:spcPts val="2519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оценены сроки разработки;</a:t>
            </a:r>
          </a:p>
          <a:p>
            <a:pPr marL="342900" indent="-342900">
              <a:lnSpc>
                <a:spcPts val="2519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рассчитан бюджет проекта (около 1–2 млрд рублей);</a:t>
            </a:r>
          </a:p>
          <a:p>
            <a:pPr marL="342900" indent="-342900">
              <a:lnSpc>
                <a:spcPts val="2519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сформирована отдельная команда разработчиков.</a:t>
            </a:r>
          </a:p>
          <a:p>
            <a:pPr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Компания </a:t>
            </a:r>
            <a:r>
              <a:rPr lang="en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VK </a:t>
            </a: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решила создать отечественный мессенджер, который объединит функции общения, государственных сервисов, цифрового </a:t>
            </a:r>
            <a:r>
              <a:rPr lang="en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ID, </a:t>
            </a: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платежей и сервисов для бизнеса.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2829" y="7237302"/>
            <a:ext cx="14703806" cy="18268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99"/>
              </a:lnSpc>
            </a:pPr>
            <a:r>
              <a:rPr lang="en-US" sz="7099" spc="141" dirty="0" err="1">
                <a:solidFill>
                  <a:srgbClr val="000000"/>
                </a:solidFill>
                <a:latin typeface="Tenor Sans"/>
                <a:sym typeface="Tenor Sans"/>
              </a:rPr>
              <a:t>П</a:t>
            </a:r>
            <a:r>
              <a:rPr lang="ru-RU" sz="7099" spc="141" dirty="0">
                <a:solidFill>
                  <a:srgbClr val="000000"/>
                </a:solidFill>
                <a:latin typeface="Tenor Sans"/>
                <a:sym typeface="Tenor Sans"/>
              </a:rPr>
              <a:t>РЕДВАРИТЕЛЬНЫЙ АНАЛИЗ</a:t>
            </a:r>
            <a:endParaRPr lang="en-US" sz="7099" spc="141" dirty="0">
              <a:solidFill>
                <a:srgbClr val="000000"/>
              </a:solidFill>
              <a:latin typeface="Tenor Sans"/>
              <a:sym typeface="Tenor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1551" y="7084028"/>
            <a:ext cx="3097964" cy="2174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26"/>
              </a:lnSpc>
            </a:pPr>
            <a:r>
              <a:rPr lang="en-US" sz="16226" spc="324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02.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09515" y="7886700"/>
            <a:ext cx="13589676" cy="916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ru-RU" sz="7099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ПЛАНИРОВАНИЕ</a:t>
            </a:r>
            <a:endParaRPr lang="en-US" sz="7099" spc="141" dirty="0">
              <a:solidFill>
                <a:srgbClr val="000000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1BC60-04F4-99B3-AAF8-F6E884A11101}"/>
              </a:ext>
            </a:extLst>
          </p:cNvPr>
          <p:cNvSpPr txBox="1"/>
          <p:nvPr/>
        </p:nvSpPr>
        <p:spPr>
          <a:xfrm>
            <a:off x="811551" y="2763438"/>
            <a:ext cx="17606682" cy="2670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сроки разработки;</a:t>
            </a:r>
          </a:p>
          <a:p>
            <a:pPr algn="ctr"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этапы создания приложения;</a:t>
            </a:r>
          </a:p>
          <a:p>
            <a:pPr algn="ctr"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распределение обязанностей между разработчиками;</a:t>
            </a:r>
          </a:p>
          <a:p>
            <a:pPr algn="ctr"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функциональность первой версии продукта.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75332EF-ED56-2B69-B2C4-85B3AA1FAE4D}"/>
              </a:ext>
            </a:extLst>
          </p:cNvPr>
          <p:cNvSpPr txBox="1"/>
          <p:nvPr/>
        </p:nvSpPr>
        <p:spPr>
          <a:xfrm>
            <a:off x="7924800" y="358744"/>
            <a:ext cx="10515600" cy="2622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en-US" sz="7099" spc="141" dirty="0" err="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П</a:t>
            </a:r>
            <a:r>
              <a:rPr lang="ru-RU" sz="7099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ЛАН РЕАЛИЗАЦИИ ПРОЕКТА</a:t>
            </a:r>
          </a:p>
          <a:p>
            <a:pPr algn="l">
              <a:lnSpc>
                <a:spcPts val="7099"/>
              </a:lnSpc>
            </a:pPr>
            <a:r>
              <a:rPr lang="ru-RU" sz="3200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ОПРЕДЕЛИЛИ</a:t>
            </a:r>
            <a:endParaRPr lang="en-US" sz="3200" spc="141" dirty="0">
              <a:solidFill>
                <a:srgbClr val="000000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1551" y="7084028"/>
            <a:ext cx="3097964" cy="2174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26"/>
              </a:lnSpc>
            </a:pPr>
            <a:r>
              <a:rPr lang="en-US" sz="16226" spc="324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02.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09515" y="7886700"/>
            <a:ext cx="13589676" cy="916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ru-RU" sz="7099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ПЛАНИРОВАНИЕ</a:t>
            </a:r>
            <a:endParaRPr lang="en-US" sz="7099" spc="141" dirty="0">
              <a:solidFill>
                <a:srgbClr val="000000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1BC60-04F4-99B3-AAF8-F6E884A11101}"/>
              </a:ext>
            </a:extLst>
          </p:cNvPr>
          <p:cNvSpPr txBox="1"/>
          <p:nvPr/>
        </p:nvSpPr>
        <p:spPr>
          <a:xfrm>
            <a:off x="3276600" y="3032715"/>
            <a:ext cx="17606682" cy="4260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личные и групповые чаты;</a:t>
            </a:r>
          </a:p>
          <a:p>
            <a:pPr algn="ctr"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голосовые и видеозвонки;</a:t>
            </a:r>
          </a:p>
          <a:p>
            <a:pPr algn="ctr"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обмен файлами;</a:t>
            </a:r>
          </a:p>
          <a:p>
            <a:pPr algn="ctr"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мини-приложения;</a:t>
            </a:r>
          </a:p>
          <a:p>
            <a:pPr algn="ctr"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платежную систему;</a:t>
            </a:r>
          </a:p>
          <a:p>
            <a:pPr algn="ctr"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Интеграцию с Госуслугами;</a:t>
            </a:r>
          </a:p>
          <a:p>
            <a:pPr algn="ctr">
              <a:lnSpc>
                <a:spcPts val="2519"/>
              </a:lnSpc>
            </a:pPr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>
              <a:lnSpc>
                <a:spcPts val="2519"/>
              </a:lnSpc>
            </a:pP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цифровой </a:t>
            </a:r>
            <a:r>
              <a:rPr lang="en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ID.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75332EF-ED56-2B69-B2C4-85B3AA1FAE4D}"/>
              </a:ext>
            </a:extLst>
          </p:cNvPr>
          <p:cNvSpPr txBox="1"/>
          <p:nvPr/>
        </p:nvSpPr>
        <p:spPr>
          <a:xfrm>
            <a:off x="7924800" y="358744"/>
            <a:ext cx="10515600" cy="2635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en-US" sz="7099" spc="141" dirty="0" err="1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П</a:t>
            </a:r>
            <a:r>
              <a:rPr lang="ru-RU" sz="7099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ЛАН РЕАЛИЗАЦИИ ПРОЕКТА</a:t>
            </a:r>
          </a:p>
          <a:p>
            <a:pPr algn="l">
              <a:lnSpc>
                <a:spcPts val="7099"/>
              </a:lnSpc>
            </a:pPr>
            <a:r>
              <a:rPr lang="ru-RU" sz="3200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ПЛАНИРОВАЛОСЬ</a:t>
            </a:r>
            <a:r>
              <a:rPr lang="ru-RU" sz="2800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</a:t>
            </a:r>
            <a:r>
              <a:rPr lang="ru-RU" sz="3200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РЕАЛИЗОВАТЬ</a:t>
            </a:r>
            <a:endParaRPr lang="ru-RU" sz="2800" spc="141" dirty="0">
              <a:solidFill>
                <a:srgbClr val="000000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</p:spTree>
    <p:extLst>
      <p:ext uri="{BB962C8B-B14F-4D97-AF65-F5344CB8AC3E}">
        <p14:creationId xmlns:p14="http://schemas.microsoft.com/office/powerpoint/2010/main" val="285956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1551" y="7084028"/>
            <a:ext cx="3097964" cy="2174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26"/>
              </a:lnSpc>
            </a:pPr>
            <a:r>
              <a:rPr lang="en-US" sz="16226" spc="324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03.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09515" y="7886700"/>
            <a:ext cx="13589676" cy="916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ru-RU" sz="7099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РЕАЛИЗАЦИЯ</a:t>
            </a:r>
            <a:endParaRPr lang="en-US" sz="7099" spc="141" dirty="0">
              <a:solidFill>
                <a:srgbClr val="000000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DA729-4235-E000-0073-6CB51F6ADA1D}"/>
              </a:ext>
            </a:extLst>
          </p:cNvPr>
          <p:cNvSpPr txBox="1"/>
          <p:nvPr/>
        </p:nvSpPr>
        <p:spPr>
          <a:xfrm>
            <a:off x="8117297" y="2377172"/>
            <a:ext cx="9359152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3200" spc="141" dirty="0">
                <a:solidFill>
                  <a:srgbClr val="000000"/>
                </a:solidFill>
                <a:latin typeface="Tenor Sans"/>
              </a:rPr>
              <a:t>Разработчики:</a:t>
            </a:r>
          </a:p>
          <a:p>
            <a:pPr algn="r"/>
            <a:endParaRPr lang="ru-RU" sz="3200" spc="141" dirty="0">
              <a:solidFill>
                <a:srgbClr val="000000"/>
              </a:solidFill>
              <a:latin typeface="Tenor Sans"/>
            </a:endParaRPr>
          </a:p>
          <a:p>
            <a:pPr algn="r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создали мобильные приложения</a:t>
            </a:r>
          </a:p>
          <a:p>
            <a:pPr algn="r"/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r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разработали веб-версию</a:t>
            </a:r>
          </a:p>
          <a:p>
            <a:pPr algn="r"/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r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создали версии для </a:t>
            </a:r>
            <a:r>
              <a:rPr lang="en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Windows, macOS </a:t>
            </a: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и </a:t>
            </a:r>
            <a:r>
              <a:rPr lang="en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Linux</a:t>
            </a:r>
          </a:p>
          <a:p>
            <a:pPr algn="r"/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r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реализовали чаты, звонки и передачу файлов</a:t>
            </a:r>
          </a:p>
          <a:p>
            <a:pPr algn="r"/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r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добавили платежи и чат-ботов</a:t>
            </a:r>
          </a:p>
          <a:p>
            <a:pPr algn="r"/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r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внедрили цифровой </a:t>
            </a:r>
            <a:r>
              <a:rPr lang="en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B4B58-291D-1991-DE1A-5C5DC623AE62}"/>
              </a:ext>
            </a:extLst>
          </p:cNvPr>
          <p:cNvSpPr txBox="1"/>
          <p:nvPr/>
        </p:nvSpPr>
        <p:spPr>
          <a:xfrm>
            <a:off x="228600" y="33960"/>
            <a:ext cx="18807952" cy="2277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7099" spc="141" dirty="0">
                <a:solidFill>
                  <a:srgbClr val="000000"/>
                </a:solidFill>
                <a:latin typeface="Tenor Sans"/>
              </a:rPr>
              <a:t>На этапе реализации начинается разработка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4195447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1551" y="7084028"/>
            <a:ext cx="3097964" cy="2174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26"/>
              </a:lnSpc>
            </a:pPr>
            <a:r>
              <a:rPr lang="en-US" sz="16226" spc="324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0</a:t>
            </a:r>
            <a:r>
              <a:rPr lang="ru-RU" sz="16226" spc="324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4</a:t>
            </a:r>
            <a:r>
              <a:rPr lang="en-US" sz="16226" spc="324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09515" y="7886700"/>
            <a:ext cx="13589676" cy="916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ru-RU" sz="7099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ТЕСТИРОВАНИЕ</a:t>
            </a:r>
            <a:endParaRPr lang="en-US" sz="7099" spc="141" dirty="0">
              <a:solidFill>
                <a:srgbClr val="000000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A8656-F601-F923-DF2B-2482365C65AE}"/>
              </a:ext>
            </a:extLst>
          </p:cNvPr>
          <p:cNvSpPr txBox="1"/>
          <p:nvPr/>
        </p:nvSpPr>
        <p:spPr>
          <a:xfrm>
            <a:off x="228600" y="342900"/>
            <a:ext cx="10820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800" spc="141" dirty="0">
                <a:solidFill>
                  <a:srgbClr val="000000"/>
                </a:solidFill>
                <a:latin typeface="Tenor Sans"/>
              </a:rPr>
              <a:t>ПОСЛЕ РЕАЛИЗАЦИИ ПРОВОДИТСЯ ТЕСТИРОВАНИЕ </a:t>
            </a:r>
          </a:p>
          <a:p>
            <a:pPr algn="l"/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l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исправлялись ошибки</a:t>
            </a:r>
          </a:p>
          <a:p>
            <a:pPr algn="l"/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l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улучшалась производительность</a:t>
            </a:r>
          </a:p>
          <a:p>
            <a:pPr algn="l"/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l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проверялась безопасность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B89037-B3E1-F755-2DD5-4CC36AA8E575}"/>
              </a:ext>
            </a:extLst>
          </p:cNvPr>
          <p:cNvSpPr txBox="1"/>
          <p:nvPr/>
        </p:nvSpPr>
        <p:spPr>
          <a:xfrm>
            <a:off x="5943600" y="4392210"/>
            <a:ext cx="123444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spc="864" dirty="0">
                <a:solidFill>
                  <a:srgbClr val="737373"/>
                </a:solidFill>
                <a:latin typeface="Tenor Sans"/>
              </a:rPr>
              <a:t>Также компания добавила мессенджер </a:t>
            </a:r>
            <a:r>
              <a:rPr lang="ru-RU" sz="3200" spc="864" dirty="0" err="1">
                <a:solidFill>
                  <a:srgbClr val="737373"/>
                </a:solidFill>
                <a:latin typeface="Tenor Sans"/>
              </a:rPr>
              <a:t>M</a:t>
            </a:r>
            <a:r>
              <a:rPr lang="en-US" sz="3200" spc="864" dirty="0">
                <a:solidFill>
                  <a:srgbClr val="737373"/>
                </a:solidFill>
                <a:latin typeface="Tenor Sans"/>
              </a:rPr>
              <a:t>AX</a:t>
            </a:r>
            <a:r>
              <a:rPr lang="ru-RU" sz="3200" spc="864" dirty="0">
                <a:solidFill>
                  <a:srgbClr val="737373"/>
                </a:solidFill>
                <a:latin typeface="Tenor Sans"/>
              </a:rPr>
              <a:t> </a:t>
            </a:r>
            <a:r>
              <a:rPr lang="en-US" sz="3200" spc="864" dirty="0" err="1">
                <a:solidFill>
                  <a:srgbClr val="737373"/>
                </a:solidFill>
                <a:latin typeface="Tenor Sans"/>
              </a:rPr>
              <a:t>в</a:t>
            </a:r>
            <a:r>
              <a:rPr lang="ru-RU" sz="3200" spc="864" dirty="0">
                <a:solidFill>
                  <a:srgbClr val="737373"/>
                </a:solidFill>
                <a:latin typeface="Tenor Sans"/>
              </a:rPr>
              <a:t> программу </a:t>
            </a:r>
            <a:r>
              <a:rPr lang="en" sz="3200" spc="864" dirty="0">
                <a:solidFill>
                  <a:srgbClr val="737373"/>
                </a:solidFill>
                <a:latin typeface="Tenor Sans"/>
              </a:rPr>
              <a:t>Bug Bounty, </a:t>
            </a:r>
            <a:r>
              <a:rPr lang="ru-RU" sz="3200" spc="864" dirty="0">
                <a:solidFill>
                  <a:srgbClr val="737373"/>
                </a:solidFill>
                <a:latin typeface="Tenor Sans"/>
              </a:rPr>
              <a:t>по которой за найденные уязвимости выплачивалось до 5 миллионов рублей.</a:t>
            </a:r>
          </a:p>
        </p:txBody>
      </p:sp>
    </p:spTree>
    <p:extLst>
      <p:ext uri="{BB962C8B-B14F-4D97-AF65-F5344CB8AC3E}">
        <p14:creationId xmlns:p14="http://schemas.microsoft.com/office/powerpoint/2010/main" val="3291646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1551" y="7084028"/>
            <a:ext cx="3097964" cy="2174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26"/>
              </a:lnSpc>
            </a:pPr>
            <a:r>
              <a:rPr lang="en-US" sz="16226" spc="324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0</a:t>
            </a:r>
            <a:r>
              <a:rPr lang="ru-RU" sz="16226" spc="324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5</a:t>
            </a:r>
            <a:r>
              <a:rPr lang="en-US" sz="16226" spc="324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09515" y="7886700"/>
            <a:ext cx="13589676" cy="916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ru-RU" sz="7099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ВНЕДРЕНИЕ</a:t>
            </a:r>
            <a:endParaRPr lang="en-US" sz="7099" spc="141" dirty="0">
              <a:solidFill>
                <a:srgbClr val="000000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5262C-7654-3F8C-ACEB-AB477AE82F35}"/>
              </a:ext>
            </a:extLst>
          </p:cNvPr>
          <p:cNvSpPr txBox="1"/>
          <p:nvPr/>
        </p:nvSpPr>
        <p:spPr>
          <a:xfrm>
            <a:off x="457200" y="342900"/>
            <a:ext cx="129315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800" spc="141" dirty="0">
                <a:solidFill>
                  <a:srgbClr val="000000"/>
                </a:solidFill>
                <a:latin typeface="Tenor Sans"/>
              </a:rPr>
              <a:t>ПОСЛЕ ЗАВЕРШЕНИЯ ТЕСТИРОВАНИЯ НАЧИНАЕТСЯ ВНЕДРЕНИЕ ПРОЕКТА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4E9B1-E78A-0B9A-CBF9-541BCBCF4CEF}"/>
              </a:ext>
            </a:extLst>
          </p:cNvPr>
          <p:cNvSpPr txBox="1"/>
          <p:nvPr/>
        </p:nvSpPr>
        <p:spPr>
          <a:xfrm>
            <a:off x="5509954" y="2548306"/>
            <a:ext cx="1232084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spc="864" dirty="0">
                <a:solidFill>
                  <a:srgbClr val="737373"/>
                </a:solidFill>
                <a:latin typeface="Tenor Sans"/>
              </a:rPr>
              <a:t>Были выполнены следующие действия:</a:t>
            </a:r>
          </a:p>
          <a:p>
            <a:pPr marL="0" lvl="8" algn="ctr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приложение разместили в магазинах приложений;</a:t>
            </a:r>
          </a:p>
          <a:p>
            <a:pPr algn="ctr"/>
            <a:r>
              <a:rPr lang="en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Max </a:t>
            </a: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включили в реестр российского программного обеспечения;</a:t>
            </a:r>
          </a:p>
          <a:p>
            <a:pPr algn="ctr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сервис интегрировали с Госуслугами;</a:t>
            </a:r>
          </a:p>
          <a:p>
            <a:pPr algn="ctr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подключили сервис «</a:t>
            </a:r>
            <a:r>
              <a:rPr lang="ru-RU" sz="2400" dirty="0" err="1">
                <a:solidFill>
                  <a:srgbClr val="737373"/>
                </a:solidFill>
                <a:latin typeface="Arimo"/>
                <a:ea typeface="Arimo"/>
                <a:cs typeface="Arimo"/>
              </a:rPr>
              <a:t>Госключ</a:t>
            </a:r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»;</a:t>
            </a:r>
          </a:p>
          <a:p>
            <a:pPr algn="ctr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внедрили цифровой </a:t>
            </a:r>
            <a:r>
              <a:rPr lang="en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ID;</a:t>
            </a:r>
          </a:p>
          <a:p>
            <a:pPr algn="ctr"/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начали использовать в государственных учреждениях и образовательных организациях.</a:t>
            </a:r>
            <a:endParaRPr lang="en-US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/>
            <a:endParaRPr lang="ru-RU" sz="2400" dirty="0">
              <a:solidFill>
                <a:srgbClr val="737373"/>
              </a:solidFill>
              <a:latin typeface="Arimo"/>
              <a:ea typeface="Arimo"/>
              <a:cs typeface="Arimo"/>
            </a:endParaRPr>
          </a:p>
          <a:p>
            <a:pPr algn="ctr"/>
            <a:r>
              <a:rPr lang="ru-RU" sz="3200" spc="864" dirty="0">
                <a:solidFill>
                  <a:srgbClr val="737373"/>
                </a:solidFill>
                <a:latin typeface="Tenor Sans"/>
              </a:rPr>
              <a:t>Позже приложение стало обязательным для предустановки на многие устройства, продаваемые в России.</a:t>
            </a:r>
          </a:p>
        </p:txBody>
      </p:sp>
    </p:spTree>
    <p:extLst>
      <p:ext uri="{BB962C8B-B14F-4D97-AF65-F5344CB8AC3E}">
        <p14:creationId xmlns:p14="http://schemas.microsoft.com/office/powerpoint/2010/main" val="200526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084028"/>
            <a:ext cx="3299915" cy="2091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226"/>
              </a:lnSpc>
            </a:pPr>
            <a:r>
              <a:rPr lang="en-US" sz="16226" spc="324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06.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09515" y="7886700"/>
            <a:ext cx="13589676" cy="916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ru-RU" sz="7099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СОПРОВОЖДЕНИЕ</a:t>
            </a:r>
            <a:endParaRPr lang="en-US" sz="7099" spc="141" dirty="0">
              <a:solidFill>
                <a:srgbClr val="000000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5262C-7654-3F8C-ACEB-AB477AE82F35}"/>
              </a:ext>
            </a:extLst>
          </p:cNvPr>
          <p:cNvSpPr txBox="1"/>
          <p:nvPr/>
        </p:nvSpPr>
        <p:spPr>
          <a:xfrm>
            <a:off x="609600" y="557629"/>
            <a:ext cx="1082040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800" spc="141" dirty="0">
                <a:solidFill>
                  <a:srgbClr val="000000"/>
                </a:solidFill>
                <a:latin typeface="Tenor Sans"/>
              </a:rPr>
              <a:t>После запуска разработка проекта не закончилась.</a:t>
            </a:r>
          </a:p>
          <a:p>
            <a:pPr algn="l"/>
            <a:endParaRPr lang="ru-RU" sz="2800" b="0" i="0" dirty="0">
              <a:solidFill>
                <a:srgbClr val="000000"/>
              </a:solidFill>
              <a:effectLst/>
            </a:endParaRPr>
          </a:p>
          <a:p>
            <a:r>
              <a:rPr lang="ru-RU" sz="3200" spc="141" dirty="0">
                <a:solidFill>
                  <a:srgbClr val="000000"/>
                </a:solidFill>
                <a:latin typeface="Tenor Sans"/>
              </a:rPr>
              <a:t>Компания </a:t>
            </a:r>
            <a:r>
              <a:rPr lang="en" sz="3200" spc="141" dirty="0">
                <a:solidFill>
                  <a:srgbClr val="000000"/>
                </a:solidFill>
                <a:latin typeface="Tenor Sans"/>
              </a:rPr>
              <a:t>VK </a:t>
            </a:r>
            <a:r>
              <a:rPr lang="ru-RU" sz="3200" spc="141" dirty="0">
                <a:solidFill>
                  <a:srgbClr val="000000"/>
                </a:solidFill>
                <a:latin typeface="Tenor Sans"/>
              </a:rPr>
              <a:t>продолжила:</a:t>
            </a:r>
          </a:p>
          <a:p>
            <a:endParaRPr lang="ru-RU" sz="3200" spc="141" dirty="0">
              <a:solidFill>
                <a:srgbClr val="000000"/>
              </a:solidFill>
              <a:latin typeface="Tenor Sans"/>
            </a:endParaRPr>
          </a:p>
          <a:p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выпускать обновления;</a:t>
            </a:r>
          </a:p>
          <a:p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исправлять ошибки;</a:t>
            </a:r>
          </a:p>
          <a:p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улучшать производительность;</a:t>
            </a:r>
          </a:p>
          <a:p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расширять функциональность;</a:t>
            </a:r>
          </a:p>
          <a:p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усиливать защиту приложения;</a:t>
            </a:r>
          </a:p>
          <a:p>
            <a:r>
              <a:rPr lang="ru-RU" sz="24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добавлять новые сервисы.</a:t>
            </a:r>
          </a:p>
        </p:txBody>
      </p:sp>
    </p:spTree>
    <p:extLst>
      <p:ext uri="{BB962C8B-B14F-4D97-AF65-F5344CB8AC3E}">
        <p14:creationId xmlns:p14="http://schemas.microsoft.com/office/powerpoint/2010/main" val="2087625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084028"/>
            <a:ext cx="3299915" cy="2091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226"/>
              </a:lnSpc>
            </a:pPr>
            <a:r>
              <a:rPr lang="en-US" sz="16226" spc="324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06.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09515" y="7216435"/>
            <a:ext cx="13589676" cy="182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ru-RU" sz="7099" spc="141" dirty="0">
                <a:solidFill>
                  <a:srgbClr val="000000"/>
                </a:solidFill>
                <a:latin typeface="Tenor Sans"/>
              </a:rPr>
              <a:t>ПРЕИМУЩЕСТВА И ПРОБЛЕМЫ ПРОЕКТА</a:t>
            </a:r>
            <a:endParaRPr lang="en-US" sz="7099" spc="141" dirty="0">
              <a:solidFill>
                <a:srgbClr val="000000"/>
              </a:solidFill>
              <a:latin typeface="Tenor Sans"/>
              <a:sym typeface="Tenor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5262C-7654-3F8C-ACEB-AB477AE82F35}"/>
              </a:ext>
            </a:extLst>
          </p:cNvPr>
          <p:cNvSpPr txBox="1"/>
          <p:nvPr/>
        </p:nvSpPr>
        <p:spPr>
          <a:xfrm>
            <a:off x="457200" y="417150"/>
            <a:ext cx="1293158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spc="141" dirty="0">
                <a:solidFill>
                  <a:srgbClr val="000000"/>
                </a:solidFill>
                <a:latin typeface="Tenor Sans"/>
              </a:rPr>
              <a:t>Достоинства проекта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современный интерфейс;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поддержка видеозвонков;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обмен файлами до 4 ГБ;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интеграция с государственными сервисами;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платежная система;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цифровой </a:t>
            </a:r>
            <a:r>
              <a:rPr lang="en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ID;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единая цифровая платформа.</a:t>
            </a:r>
          </a:p>
          <a:p>
            <a:endParaRPr lang="ru-RU" sz="28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ACD25-09E7-D839-6B2B-312BA6866655}"/>
              </a:ext>
            </a:extLst>
          </p:cNvPr>
          <p:cNvSpPr txBox="1"/>
          <p:nvPr/>
        </p:nvSpPr>
        <p:spPr>
          <a:xfrm>
            <a:off x="8704730" y="450622"/>
            <a:ext cx="936811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4800" spc="141" dirty="0">
                <a:solidFill>
                  <a:srgbClr val="000000"/>
                </a:solidFill>
                <a:latin typeface="Tenor Sans"/>
              </a:rPr>
              <a:t>Недостатки проекта</a:t>
            </a:r>
          </a:p>
          <a:p>
            <a:pPr algn="r"/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вопросы конфиденциальности данных;</a:t>
            </a:r>
          </a:p>
          <a:p>
            <a:pPr algn="r"/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критика со стороны пользователей;</a:t>
            </a:r>
          </a:p>
          <a:p>
            <a:pPr algn="r"/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высокая конкуренция с </a:t>
            </a:r>
            <a:r>
              <a:rPr lang="en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Telegram </a:t>
            </a:r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и </a:t>
            </a:r>
            <a:r>
              <a:rPr lang="en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WhatsApp;</a:t>
            </a:r>
          </a:p>
          <a:p>
            <a:pPr algn="r"/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необходимость постоянного развития и совершенствования.</a:t>
            </a:r>
          </a:p>
        </p:txBody>
      </p:sp>
    </p:spTree>
    <p:extLst>
      <p:ext uri="{BB962C8B-B14F-4D97-AF65-F5344CB8AC3E}">
        <p14:creationId xmlns:p14="http://schemas.microsoft.com/office/powerpoint/2010/main" val="1460608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7084028"/>
            <a:ext cx="3299915" cy="2091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226"/>
              </a:lnSpc>
            </a:pPr>
            <a:r>
              <a:rPr lang="en-US" sz="16226" spc="324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07.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09515" y="7886700"/>
            <a:ext cx="13589676" cy="916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ru-RU" sz="7099" spc="141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ВЫВОД</a:t>
            </a:r>
            <a:endParaRPr lang="en-US" sz="7099" spc="141" dirty="0">
              <a:solidFill>
                <a:srgbClr val="000000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5262C-7654-3F8C-ACEB-AB477AE82F35}"/>
              </a:ext>
            </a:extLst>
          </p:cNvPr>
          <p:cNvSpPr txBox="1"/>
          <p:nvPr/>
        </p:nvSpPr>
        <p:spPr>
          <a:xfrm>
            <a:off x="609600" y="793246"/>
            <a:ext cx="179832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spc="141" dirty="0">
                <a:solidFill>
                  <a:srgbClr val="000000"/>
                </a:solidFill>
                <a:latin typeface="Tenor Sans"/>
              </a:rPr>
              <a:t>Разработка мессенджера </a:t>
            </a:r>
            <a:r>
              <a:rPr lang="en" sz="3600" spc="141" dirty="0">
                <a:solidFill>
                  <a:srgbClr val="000000"/>
                </a:solidFill>
                <a:latin typeface="Tenor Sans"/>
              </a:rPr>
              <a:t>Max </a:t>
            </a:r>
            <a:r>
              <a:rPr lang="ru-RU" sz="3600" spc="141" dirty="0">
                <a:solidFill>
                  <a:srgbClr val="000000"/>
                </a:solidFill>
                <a:latin typeface="Tenor Sans"/>
              </a:rPr>
              <a:t>является примером полного жизненного цикла </a:t>
            </a:r>
            <a:r>
              <a:rPr lang="en" sz="3600" spc="141" dirty="0">
                <a:solidFill>
                  <a:srgbClr val="000000"/>
                </a:solidFill>
                <a:latin typeface="Tenor Sans"/>
              </a:rPr>
              <a:t>IT-</a:t>
            </a:r>
            <a:r>
              <a:rPr lang="ru-RU" sz="3600" spc="141" dirty="0">
                <a:solidFill>
                  <a:srgbClr val="000000"/>
                </a:solidFill>
                <a:latin typeface="Tenor Sans"/>
              </a:rPr>
              <a:t>проекта.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Проект прошёл все основные этапы: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Предварительный анализ.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Планирование.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Реализация и тестирование.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Внедрение.</a:t>
            </a:r>
          </a:p>
          <a:p>
            <a:r>
              <a:rPr lang="ru-RU" sz="3200" dirty="0">
                <a:solidFill>
                  <a:srgbClr val="737373"/>
                </a:solidFill>
                <a:latin typeface="Arimo"/>
                <a:ea typeface="Arimo"/>
                <a:cs typeface="Arimo"/>
              </a:rPr>
              <a:t>Сопровождение.</a:t>
            </a:r>
          </a:p>
          <a:p>
            <a:pPr algn="ctr"/>
            <a:r>
              <a:rPr lang="ru-RU" sz="3600" spc="141" dirty="0">
                <a:solidFill>
                  <a:srgbClr val="000000"/>
                </a:solidFill>
                <a:latin typeface="Tenor Sans"/>
              </a:rPr>
              <a:t>Несмотря на возникающие трудности и критику, проект продолжает развиваться, получает новые функции и обновления. Это показывает, что сопровождение и совершенствование продукта являются такими же важными этапами жизненного цикла, как и его разработка.</a:t>
            </a:r>
          </a:p>
        </p:txBody>
      </p:sp>
    </p:spTree>
    <p:extLst>
      <p:ext uri="{BB962C8B-B14F-4D97-AF65-F5344CB8AC3E}">
        <p14:creationId xmlns:p14="http://schemas.microsoft.com/office/powerpoint/2010/main" val="3690764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447</Words>
  <Application>Microsoft Macintosh PowerPoint</Application>
  <PresentationFormat>Произвольный</PresentationFormat>
  <Paragraphs>119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Tenor Sans</vt:lpstr>
      <vt:lpstr>Calibri</vt:lpstr>
      <vt:lpstr>Arimo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ПОРТФОЛИО</dc:title>
  <cp:lastModifiedBy>Ulyana Vorobeva</cp:lastModifiedBy>
  <cp:revision>10</cp:revision>
  <dcterms:created xsi:type="dcterms:W3CDTF">2006-08-16T00:00:00Z</dcterms:created>
  <dcterms:modified xsi:type="dcterms:W3CDTF">2026-07-03T09:13:39Z</dcterms:modified>
  <dc:identifier>DAHFUoaijmw</dc:identifier>
</cp:coreProperties>
</file>